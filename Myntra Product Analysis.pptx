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2" r:id="rId3"/>
    <p:sldId id="286" r:id="rId4"/>
    <p:sldId id="289" r:id="rId5"/>
    <p:sldId id="290" r:id="rId6"/>
    <p:sldId id="329" r:id="rId7"/>
    <p:sldId id="330" r:id="rId8"/>
    <p:sldId id="309" r:id="rId9"/>
    <p:sldId id="288" r:id="rId10"/>
    <p:sldId id="311" r:id="rId11"/>
    <p:sldId id="312" r:id="rId12"/>
    <p:sldId id="313" r:id="rId13"/>
    <p:sldId id="314" r:id="rId14"/>
    <p:sldId id="315" r:id="rId15"/>
    <p:sldId id="316" r:id="rId16"/>
    <p:sldId id="320" r:id="rId17"/>
    <p:sldId id="328" r:id="rId18"/>
    <p:sldId id="331" r:id="rId19"/>
    <p:sldId id="324" r:id="rId20"/>
    <p:sldId id="323" r:id="rId21"/>
    <p:sldId id="325" r:id="rId22"/>
    <p:sldId id="307" r:id="rId23"/>
    <p:sldId id="259" r:id="rId24"/>
  </p:sldIdLst>
  <p:sldSz cx="12192000" cy="6858000"/>
  <p:notesSz cx="6858000" cy="9144000"/>
  <p:embeddedFontLst>
    <p:embeddedFont>
      <p:font typeface="Lato Black" panose="020F0502020204030203" pitchFamily="34" charset="0"/>
      <p:bold r:id="rId26"/>
    </p:embeddedFont>
    <p:embeddedFont>
      <p:font typeface="Libre Baskerville" panose="02000000000000000000" pitchFamily="2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88" d="100"/>
          <a:sy n="88" d="100"/>
        </p:scale>
        <p:origin x="64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7039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ramteja131" TargetMode="External"/><Relationship Id="rId2" Type="http://schemas.openxmlformats.org/officeDocument/2006/relationships/hyperlink" Target="https://www.linkedin.com/in/puramteja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9427"/>
            <a:ext cx="12190815" cy="706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395221" y="3846137"/>
            <a:ext cx="580534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3200" b="1" dirty="0"/>
              <a:t>Myntra Product Analysis</a:t>
            </a:r>
          </a:p>
          <a:p>
            <a:pPr lvl="0" algn="ctr">
              <a:buSzPts val="1800"/>
            </a:pPr>
            <a:endParaRPr lang="en-IN" sz="3200" b="1" dirty="0">
              <a:solidFill>
                <a:schemeClr val="tx1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10588-4B5E-0B29-F640-E853F159DBFB}"/>
              </a:ext>
            </a:extLst>
          </p:cNvPr>
          <p:cNvSpPr/>
          <p:nvPr/>
        </p:nvSpPr>
        <p:spPr>
          <a:xfrm>
            <a:off x="8107051" y="4864230"/>
            <a:ext cx="3167407" cy="156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Puram Teja    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Batch No :436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  Innomatics Research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Labs Dilshuknagar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D26D-9A0D-1E88-9A25-F325A972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  <a:buFont typeface="Arial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Arial"/>
              </a:rPr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1EFCE-000B-1866-51F4-B884E1FB9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8290"/>
            <a:ext cx="10515600" cy="4668674"/>
          </a:xfrm>
        </p:spPr>
        <p:txBody>
          <a:bodyPr/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Puram Teja.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B.Tech in Computer Science and Engineering (</a:t>
            </a:r>
            <a:r>
              <a:rPr lang="en-IN" sz="2000" dirty="0"/>
              <a:t>Data Science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</a:t>
            </a:r>
            <a:r>
              <a:rPr lang="en-IN" sz="2000" dirty="0"/>
              <a:t>Kommuri Pratap Reddy Institute of Technology,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https://www.linkedin.com/in/puramteja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https://github.com/puramteja131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9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DE4-402E-FC2B-EAFD-CA18F47D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D1BEC-7190-FECC-9D87-502FB208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</a:t>
            </a:r>
            <a:r>
              <a:rPr lang="en-IN" sz="2400" dirty="0"/>
              <a:t> </a:t>
            </a:r>
            <a:r>
              <a:rPr lang="en-IN" sz="2100" dirty="0"/>
              <a:t>Data Understanding</a:t>
            </a:r>
          </a:p>
          <a:p>
            <a:r>
              <a:rPr lang="en-IN" sz="2100" dirty="0"/>
              <a:t>Dataset Overview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IN" sz="2100" dirty="0"/>
              <a:t>Data Cleaning &amp; Preprocessing</a:t>
            </a:r>
          </a:p>
          <a:p>
            <a:r>
              <a:rPr lang="en-IN" sz="2100" dirty="0"/>
              <a:t>Exploratory Data Analysis (EDA)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/>
              <a:t>Hypothesis Testing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16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60E9-FB19-69FA-79B3-84864A52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05353"/>
            <a:ext cx="10590229" cy="923826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: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35C5-462F-B7D4-1A3D-9D3A6E30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1574276"/>
            <a:ext cx="10590229" cy="4602688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en-US" sz="2400" dirty="0"/>
              <a:t>Myntra has a large number of products across different categories, making it difficult to compare products.</a:t>
            </a:r>
          </a:p>
          <a:p>
            <a:r>
              <a:rPr lang="en-US" sz="2400" dirty="0"/>
              <a:t>Customers may find it difficult to choose products based on price, rating, and reviews.</a:t>
            </a:r>
          </a:p>
          <a:p>
            <a:r>
              <a:rPr lang="en-IN" sz="2400" dirty="0"/>
              <a:t>Prices and ratings vary across different product categories.</a:t>
            </a:r>
            <a:endParaRPr lang="en-US" sz="2400" dirty="0"/>
          </a:p>
          <a:p>
            <a:r>
              <a:rPr lang="en-US" sz="2400" dirty="0"/>
              <a:t>There is a need to understand which brands have more products.</a:t>
            </a:r>
          </a:p>
          <a:p>
            <a:r>
              <a:rPr lang="en-US" sz="2400" dirty="0"/>
              <a:t> Data analysis can help identify useful patterns in product prices, ratings, and reviews.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dirty="0"/>
          </a:p>
          <a:p>
            <a:pPr marL="571500" indent="-457200"/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E29383A9-E698-76F3-ABAF-B89ECC498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7761" y="-8097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1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EF8C-9AD6-674A-7734-938BF699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6" y="367645"/>
            <a:ext cx="10637363" cy="980388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Objective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16FBD-DFD6-B2BD-9B02-2C665DC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8" y="1621410"/>
            <a:ext cx="10637362" cy="4555553"/>
          </a:xfrm>
        </p:spPr>
        <p:txBody>
          <a:bodyPr vert="horz" wrap="square" anchor="t" anchorCtr="0">
            <a:noAutofit/>
          </a:bodyPr>
          <a:lstStyle/>
          <a:p>
            <a:r>
              <a:rPr lang="en-IN" sz="2400" dirty="0"/>
              <a:t>Collect Myntra product data using web scraping. </a:t>
            </a:r>
          </a:p>
          <a:p>
            <a:r>
              <a:rPr lang="en-IN" sz="2400" dirty="0"/>
              <a:t>Clean and prepare the collected data for analysis. </a:t>
            </a:r>
          </a:p>
          <a:p>
            <a:pPr lvl="0"/>
            <a:r>
              <a:rPr lang="en-IN" sz="2400" dirty="0"/>
              <a:t>Perform basic data analysis and exploratory data analysis (EDA) using statistics and visualizations. </a:t>
            </a:r>
          </a:p>
          <a:p>
            <a:pPr lvl="0"/>
            <a:r>
              <a:rPr lang="en-IN" sz="2400" dirty="0"/>
              <a:t>Identify trends and differences in prices, ratings, reviews, brands, and categories.</a:t>
            </a:r>
          </a:p>
          <a:p>
            <a:r>
              <a:rPr lang="en-IN" sz="2400" dirty="0"/>
              <a:t>Use statistical tests to check relationships and differences in the data. </a:t>
            </a:r>
          </a:p>
          <a:p>
            <a:r>
              <a:rPr lang="en-IN" sz="2400" dirty="0"/>
              <a:t>Present the findings through clear visualizations and insights.</a:t>
            </a:r>
            <a:endParaRPr lang="en-US" sz="2400" dirty="0"/>
          </a:p>
          <a:p>
            <a:endParaRPr lang="en-US" sz="2400" dirty="0"/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endParaRPr lang="en-US" sz="2400" dirty="0"/>
          </a:p>
          <a:p>
            <a:endParaRPr lang="en-US" sz="2400" dirty="0">
              <a:noFill/>
            </a:endParaRPr>
          </a:p>
          <a:p>
            <a:endParaRPr lang="en-US" sz="2400" dirty="0">
              <a:noFill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64687-427F-90BD-344C-1080BBE94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3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376E-3CC4-1911-D9DE-C518A6DC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A0B6-496B-F008-4A08-B03A2BB4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6" y="367645"/>
            <a:ext cx="10637363" cy="980388"/>
          </a:xfrm>
        </p:spPr>
        <p:txBody>
          <a:bodyPr>
            <a:normAutofit fontScale="90000"/>
          </a:bodyPr>
          <a:lstStyle/>
          <a:p>
            <a:br>
              <a:rPr lang="en-IN" sz="4000" dirty="0"/>
            </a:br>
            <a:r>
              <a:rPr lang="en-IN" sz="4000" dirty="0"/>
              <a:t>Dataset Overview: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3A5F-9D26-E17D-3372-D86F882F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8" y="1621410"/>
            <a:ext cx="10637362" cy="4555553"/>
          </a:xfrm>
        </p:spPr>
        <p:txBody>
          <a:bodyPr vert="horz" wrap="square" anchor="t" anchorCtr="0">
            <a:noAutofit/>
          </a:bodyPr>
          <a:lstStyle/>
          <a:p>
            <a:r>
              <a:rPr lang="en-IN" sz="2400" dirty="0"/>
              <a:t>Total number of products: 550 </a:t>
            </a:r>
          </a:p>
          <a:p>
            <a:r>
              <a:rPr lang="en-IN" sz="2400" dirty="0"/>
              <a:t>Total number of columns: 7 </a:t>
            </a:r>
          </a:p>
          <a:p>
            <a:r>
              <a:rPr lang="en-IN" sz="2400" dirty="0"/>
              <a:t>The dataset contains product information from Myntra.</a:t>
            </a:r>
          </a:p>
          <a:p>
            <a:r>
              <a:rPr lang="en-IN" sz="2400" dirty="0"/>
              <a:t>Columns in the dataset: Rating, Reviews, Brand, Product Name, Price, Size,   Category </a:t>
            </a:r>
          </a:p>
          <a:p>
            <a:r>
              <a:rPr lang="en-IN" sz="2400" dirty="0"/>
              <a:t>The dataset was used to analyze product prices, ratings, reviews, brands, and categories.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114300" indent="0">
              <a:buNone/>
            </a:pPr>
            <a:endParaRPr lang="en-US" sz="2400" dirty="0"/>
          </a:p>
          <a:p>
            <a:endParaRPr lang="en-US" sz="2400" dirty="0">
              <a:noFill/>
            </a:endParaRPr>
          </a:p>
          <a:p>
            <a:endParaRPr lang="en-US" sz="2400" dirty="0">
              <a:noFill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B1E3CE-12C8-3B58-352E-1213A1B9B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30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91D9-7B6F-A115-3234-628DCECD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A16FF-30A7-6A05-5197-37A99F3F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6" y="367645"/>
            <a:ext cx="10637363" cy="980388"/>
          </a:xfrm>
        </p:spPr>
        <p:txBody>
          <a:bodyPr>
            <a:normAutofit fontScale="90000"/>
          </a:bodyPr>
          <a:lstStyle/>
          <a:p>
            <a:br>
              <a:rPr lang="en-IN" sz="4000" dirty="0"/>
            </a:br>
            <a:r>
              <a:rPr lang="en-IN" sz="4000" dirty="0"/>
              <a:t>Dataset Preview: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78AF-9C7E-E3A1-1994-7DA344A9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8" y="1348034"/>
            <a:ext cx="10637362" cy="4828930"/>
          </a:xfrm>
        </p:spPr>
        <p:txBody>
          <a:bodyPr vert="horz" wrap="square" anchor="t" anchorCtr="0">
            <a:noAutofit/>
          </a:bodyPr>
          <a:lstStyle/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endParaRPr lang="en-US" sz="2400" dirty="0"/>
          </a:p>
          <a:p>
            <a:endParaRPr lang="en-US" sz="2400" dirty="0">
              <a:noFill/>
            </a:endParaRPr>
          </a:p>
          <a:p>
            <a:endParaRPr lang="en-US" sz="2400" dirty="0">
              <a:noFill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B980F5-E680-F100-03D2-79722D72C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53BF82-CA8D-2BAE-DF53-661827F9C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087" y="1889760"/>
            <a:ext cx="8948450" cy="346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4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1A10-886B-E56D-63F4-ECCA94722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9" y="395926"/>
            <a:ext cx="10605155" cy="923828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A323-0B67-2808-8F3B-4F616245A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>
            <a:normAutofit/>
          </a:bodyPr>
          <a:lstStyle/>
          <a:p>
            <a:r>
              <a:rPr lang="en-IN" sz="2400" dirty="0"/>
              <a:t>Python</a:t>
            </a:r>
          </a:p>
          <a:p>
            <a:r>
              <a:rPr lang="en-IN" sz="2400" dirty="0"/>
              <a:t>Selenium</a:t>
            </a:r>
          </a:p>
          <a:p>
            <a:r>
              <a:rPr lang="en-IN" sz="2400" dirty="0"/>
              <a:t>Pandas</a:t>
            </a:r>
          </a:p>
          <a:p>
            <a:r>
              <a:rPr lang="en-IN" sz="2400" dirty="0"/>
              <a:t>Matplotlib</a:t>
            </a:r>
          </a:p>
          <a:p>
            <a:r>
              <a:rPr lang="en-IN" sz="2400" dirty="0"/>
              <a:t>Seaborn</a:t>
            </a:r>
          </a:p>
          <a:p>
            <a:r>
              <a:rPr lang="en-IN" sz="2400" dirty="0"/>
              <a:t>SciPy</a:t>
            </a:r>
          </a:p>
          <a:p>
            <a:r>
              <a:rPr lang="en-IN" sz="2400" dirty="0"/>
              <a:t>Jupyter Notebook</a:t>
            </a:r>
          </a:p>
        </p:txBody>
      </p:sp>
    </p:spTree>
    <p:extLst>
      <p:ext uri="{BB962C8B-B14F-4D97-AF65-F5344CB8AC3E}">
        <p14:creationId xmlns:p14="http://schemas.microsoft.com/office/powerpoint/2010/main" val="224207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DC91-DE80-EF3D-7718-E7ABB93E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IN" sz="4000" dirty="0"/>
              <a:t>Cleaning &amp; Preprocessing </a:t>
            </a:r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F70F7-1E65-4744-15FC-0AB8E8A24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Checked missing values in the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Rating and Reviews had missing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Kept missing Rating and Reviews because some products had no ratings or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Converted Rating, Reviews, and Price to appropriate data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Removed extra spaces from text columns.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89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9C7E-95A5-8D33-D1D2-42C9C135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000" dirty="0"/>
            </a:br>
            <a:r>
              <a:rPr lang="en-IN" sz="4000" dirty="0"/>
              <a:t>Exploratory Data Analysis (EDA)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77877-3F15-B993-B186-E9810DCB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Univariate Analysis</a:t>
            </a:r>
          </a:p>
          <a:p>
            <a:r>
              <a:rPr lang="en-IN" dirty="0"/>
              <a:t>Bivariate Analysis</a:t>
            </a:r>
          </a:p>
          <a:p>
            <a:r>
              <a:rPr lang="en-IN" dirty="0"/>
              <a:t>Multivariate Analysis</a:t>
            </a:r>
          </a:p>
          <a:p>
            <a:r>
              <a:rPr lang="en-IN" dirty="0"/>
              <a:t>Statistical Hypothesis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22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2566-EED9-CAD3-3EBD-A5312390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70" y="339365"/>
            <a:ext cx="6966408" cy="810705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3AE1B-832D-81C9-1968-3CE92D394E70}"/>
              </a:ext>
            </a:extLst>
          </p:cNvPr>
          <p:cNvSpPr txBox="1"/>
          <p:nvPr/>
        </p:nvSpPr>
        <p:spPr>
          <a:xfrm>
            <a:off x="490194" y="4817097"/>
            <a:ext cx="4730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Most products are priced below ₹1,000.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The price distribution is right-skewed</a:t>
            </a:r>
            <a:r>
              <a:rPr lang="en-IN" dirty="0"/>
              <a:t>, meaning most products have lower prices.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 few products have very high prices above ₹5,000</a:t>
            </a:r>
            <a:r>
              <a:rPr lang="en-IN" dirty="0"/>
              <a:t>, which can be considered high-price outliers.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BD2E2-CDE0-7484-737C-D4FBDB2BE359}"/>
              </a:ext>
            </a:extLst>
          </p:cNvPr>
          <p:cNvSpPr txBox="1"/>
          <p:nvPr/>
        </p:nvSpPr>
        <p:spPr>
          <a:xfrm>
            <a:off x="5995447" y="4817097"/>
            <a:ext cx="55618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Most products have ratings between 4.25 and 4.60.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 rating around 4.5 is the most common.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Overall, the products have relatively high ratings.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BD7A9-AF55-BE38-5CD2-58FD2CDFC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8" y="1106271"/>
            <a:ext cx="4468001" cy="3455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AEACE7-E40D-D4E0-64CA-356433512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8225"/>
            <a:ext cx="4824549" cy="345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6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4BF0AD8-5E34-62DC-C234-069675B5D504}"/>
              </a:ext>
            </a:extLst>
          </p:cNvPr>
          <p:cNvSpPr txBox="1"/>
          <p:nvPr/>
        </p:nvSpPr>
        <p:spPr>
          <a:xfrm>
            <a:off x="661184" y="4412810"/>
            <a:ext cx="49760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Face wash and cleanser has the highest number of products (98).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Lipstick is the second highest with 50 products.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Tops and perfume also have a high number of products, while shawl has the lowest count among the top 10.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56B380-A5B5-7521-54E1-54AF7BC9FA52}"/>
              </a:ext>
            </a:extLst>
          </p:cNvPr>
          <p:cNvSpPr txBox="1"/>
          <p:nvPr/>
        </p:nvSpPr>
        <p:spPr>
          <a:xfrm flipH="1">
            <a:off x="6165130" y="4412810"/>
            <a:ext cx="55523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ZAROON PRODUCTION has the highest number of products with 39.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Minimalist has 26 products, followed by BIRRA with 24.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The other brands have fewer products compared with the top brands.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8EF0C-6028-6729-7427-440CDD8FF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79" y="529860"/>
            <a:ext cx="4784456" cy="3206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9056CB-D292-689D-AD40-42E7E9F1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763" y="529859"/>
            <a:ext cx="5552387" cy="320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EEE1-65D0-FB70-96BA-27304078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12" y="226243"/>
            <a:ext cx="10581588" cy="612743"/>
          </a:xfrm>
        </p:spPr>
        <p:txBody>
          <a:bodyPr>
            <a:normAutofit fontScale="90000"/>
          </a:bodyPr>
          <a:lstStyle/>
          <a:p>
            <a:r>
              <a:rPr lang="en-IN" dirty="0"/>
              <a:t>Bivariate Analysis: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3D7F9-A56C-1FA7-585F-00FE82665495}"/>
              </a:ext>
            </a:extLst>
          </p:cNvPr>
          <p:cNvSpPr txBox="1"/>
          <p:nvPr/>
        </p:nvSpPr>
        <p:spPr>
          <a:xfrm>
            <a:off x="684460" y="4649316"/>
            <a:ext cx="53261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Skin care combo has the highest average price among the top 10 categories.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Lipstick, tops, toner has the lowest average price.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Perfume and face wash also have relatively high average prices.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DD59C-E25E-54BA-CDE9-A76C8A3D95AA}"/>
              </a:ext>
            </a:extLst>
          </p:cNvPr>
          <p:cNvSpPr txBox="1"/>
          <p:nvPr/>
        </p:nvSpPr>
        <p:spPr>
          <a:xfrm>
            <a:off x="6181398" y="4649316"/>
            <a:ext cx="56467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Perfume has the highest average rating among the top 10 categories.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Most categories have average ratings above 4.0, showing generally high ratings.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Lipstick and tops have relatively lower average ratings compared with the other categories.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13CAD-279E-E079-80E8-2D0FE8C9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60" y="966651"/>
            <a:ext cx="5326143" cy="3344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B0A2B-DCF6-2206-C4D4-514E82FDB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91" y="966651"/>
            <a:ext cx="5436089" cy="334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6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54EB2C7-600F-961D-A378-00E39323F584}"/>
              </a:ext>
            </a:extLst>
          </p:cNvPr>
          <p:cNvSpPr txBox="1"/>
          <p:nvPr/>
        </p:nvSpPr>
        <p:spPr>
          <a:xfrm>
            <a:off x="452487" y="4807670"/>
            <a:ext cx="49113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There is no clear relationship between Price and Rating.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Products with similar ratings have different prices.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Higher ratings do not always mean higher prices.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7947AD-9A7A-BD0C-485A-D6FD6DE2E285}"/>
              </a:ext>
            </a:extLst>
          </p:cNvPr>
          <p:cNvSpPr txBox="1"/>
          <p:nvPr/>
        </p:nvSpPr>
        <p:spPr>
          <a:xfrm>
            <a:off x="6021701" y="4366729"/>
            <a:ext cx="58518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Most products have a small number of reviews.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 few products have very high review counts, appearing as outliers.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There is no clear relationship between Price and Reviews.</a:t>
            </a:r>
            <a:endParaRPr lang="en-IN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F6AB7-E90F-E71D-9828-B7DD5AB8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38" y="373029"/>
            <a:ext cx="4772274" cy="3667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8EE3BB-6389-8812-ECB9-B4507FDD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373029"/>
            <a:ext cx="5399291" cy="36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2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A31C-349F-3598-6EC1-3330FB29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1" y="518474"/>
            <a:ext cx="8436990" cy="999241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CE132-22C9-295E-55A1-1D1C67DCBD22}"/>
              </a:ext>
            </a:extLst>
          </p:cNvPr>
          <p:cNvSpPr txBox="1"/>
          <p:nvPr/>
        </p:nvSpPr>
        <p:spPr>
          <a:xfrm>
            <a:off x="772998" y="1852367"/>
            <a:ext cx="532300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Rating and Price have a weak positive correlation (0.26)</a:t>
            </a:r>
          </a:p>
          <a:p>
            <a:pPr lvl="0"/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Rating and Reviews have a weak positive correlation (0.20).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Reviews and Price have a weak negative correlation (-0.20).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Overall, there is no strong relationship among Rating, Reviews, and Price.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F8948-DE75-213C-257B-23CEB5E3C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03" y="1018094"/>
            <a:ext cx="5494496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8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97DC-4FDB-A892-2FA8-7AA97EE0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76" y="273377"/>
            <a:ext cx="10693924" cy="844223"/>
          </a:xfrm>
        </p:spPr>
        <p:txBody>
          <a:bodyPr/>
          <a:lstStyle/>
          <a:p>
            <a:r>
              <a:rPr lang="en-IN" sz="3600" dirty="0"/>
              <a:t>Evaluation (Hypothesis Testing):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56913-E88C-B9DD-3594-1E59D619B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76" y="1219200"/>
            <a:ext cx="10693924" cy="509015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4000" dirty="0"/>
              <a:t>Category vs Price</a:t>
            </a:r>
          </a:p>
          <a:p>
            <a:r>
              <a:rPr lang="en-IN" sz="2100" b="1" dirty="0"/>
              <a:t>Null Hypothesis (H₀):</a:t>
            </a:r>
            <a:br>
              <a:rPr lang="en-IN" sz="2100" dirty="0"/>
            </a:br>
            <a:r>
              <a:rPr lang="en-IN" sz="2100" dirty="0"/>
              <a:t>There is </a:t>
            </a:r>
            <a:r>
              <a:rPr lang="en-IN" sz="2100" b="1" dirty="0"/>
              <a:t>no significant difference</a:t>
            </a:r>
            <a:r>
              <a:rPr lang="en-IN" sz="2100" dirty="0"/>
              <a:t> in average price across different categories.</a:t>
            </a:r>
          </a:p>
          <a:p>
            <a:r>
              <a:rPr lang="en-IN" sz="2100" b="1" dirty="0"/>
              <a:t>Alternative Hypothesis (H₁):</a:t>
            </a:r>
            <a:br>
              <a:rPr lang="en-IN" sz="2100" dirty="0"/>
            </a:br>
            <a:r>
              <a:rPr lang="en-IN" sz="2100" dirty="0"/>
              <a:t>There is a </a:t>
            </a:r>
            <a:r>
              <a:rPr lang="en-IN" sz="2100" b="1" dirty="0"/>
              <a:t>significant difference</a:t>
            </a:r>
            <a:r>
              <a:rPr lang="en-IN" sz="2100" dirty="0"/>
              <a:t> in average price across different categories.</a:t>
            </a:r>
          </a:p>
          <a:p>
            <a:r>
              <a:rPr lang="en-IN" sz="2100" dirty="0"/>
              <a:t>• A </a:t>
            </a:r>
            <a:r>
              <a:rPr lang="en-IN" sz="2100" b="1" dirty="0"/>
              <a:t>one-way ANOVA test</a:t>
            </a:r>
            <a:r>
              <a:rPr lang="en-IN" sz="2100" dirty="0"/>
              <a:t> was performed to compare the average prices across different categories.</a:t>
            </a:r>
          </a:p>
          <a:p>
            <a:r>
              <a:rPr lang="en-IN" sz="2100" dirty="0"/>
              <a:t>• The test result showed a </a:t>
            </a:r>
            <a:r>
              <a:rPr lang="en-IN" sz="2100" b="1" dirty="0"/>
              <a:t>statistically significant difference</a:t>
            </a:r>
            <a:r>
              <a:rPr lang="en-IN" sz="2100" dirty="0"/>
              <a:t> in average prices across categories.</a:t>
            </a:r>
          </a:p>
          <a:p>
            <a:r>
              <a:rPr lang="en-IN" sz="2100" dirty="0"/>
              <a:t>• Since the </a:t>
            </a:r>
            <a:r>
              <a:rPr lang="en-IN" sz="2100" b="1" dirty="0"/>
              <a:t>p-value was less than the significance level (α = 0.05)</a:t>
            </a:r>
            <a:r>
              <a:rPr lang="en-IN" sz="2100" dirty="0"/>
              <a:t>, the </a:t>
            </a:r>
            <a:r>
              <a:rPr lang="en-IN" sz="2100" b="1" dirty="0"/>
              <a:t>null hypothesis (H₀) was rejected</a:t>
            </a:r>
            <a:r>
              <a:rPr lang="en-IN" sz="2100" dirty="0"/>
              <a:t>, indicating a statistically significant difference in average price across categories.</a:t>
            </a:r>
          </a:p>
          <a:p>
            <a:pPr marL="114300" indent="0">
              <a:buNone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508341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E29F-9AD8-FAA1-8EB8-E80A78FE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D5CB-15AD-E1E4-3B9D-ABB2E4E1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76" y="273377"/>
            <a:ext cx="10693924" cy="844223"/>
          </a:xfrm>
        </p:spPr>
        <p:txBody>
          <a:bodyPr/>
          <a:lstStyle/>
          <a:p>
            <a:r>
              <a:rPr lang="en-IN" sz="3600" dirty="0"/>
              <a:t>Evaluation (Hypothesis Testing):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865EA-2F9E-B415-285F-F93D05001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76" y="1219200"/>
            <a:ext cx="10693924" cy="509015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Category vs Rating</a:t>
            </a:r>
          </a:p>
          <a:p>
            <a:r>
              <a:rPr lang="en-IN" sz="2100" b="1" dirty="0"/>
              <a:t>Null Hypothesis (H₀):</a:t>
            </a:r>
            <a:br>
              <a:rPr lang="en-IN" sz="2100" dirty="0"/>
            </a:br>
            <a:r>
              <a:rPr lang="en-IN" sz="2100" dirty="0"/>
              <a:t>There is </a:t>
            </a:r>
            <a:r>
              <a:rPr lang="en-IN" sz="2100" b="1" dirty="0"/>
              <a:t>no significant difference</a:t>
            </a:r>
            <a:r>
              <a:rPr lang="en-IN" sz="2100" dirty="0"/>
              <a:t> in average rating across different categories.</a:t>
            </a:r>
          </a:p>
          <a:p>
            <a:r>
              <a:rPr lang="en-IN" sz="2100" b="1" dirty="0"/>
              <a:t>Alternative Hypothesis (H₁):</a:t>
            </a:r>
            <a:br>
              <a:rPr lang="en-IN" sz="2100" dirty="0"/>
            </a:br>
            <a:r>
              <a:rPr lang="en-IN" sz="2100" dirty="0"/>
              <a:t>There is a </a:t>
            </a:r>
            <a:r>
              <a:rPr lang="en-IN" sz="2100" b="1" dirty="0"/>
              <a:t>significant difference</a:t>
            </a:r>
            <a:r>
              <a:rPr lang="en-IN" sz="2100" dirty="0"/>
              <a:t> in average rating across different categories.</a:t>
            </a:r>
          </a:p>
          <a:p>
            <a:r>
              <a:rPr lang="en-IN" sz="2100" dirty="0"/>
              <a:t>• A </a:t>
            </a:r>
            <a:r>
              <a:rPr lang="en-IN" sz="2100" b="1" dirty="0"/>
              <a:t>one-way ANOVA test</a:t>
            </a:r>
            <a:r>
              <a:rPr lang="en-IN" sz="2100" dirty="0"/>
              <a:t> was performed to compare the average ratings across different categories.</a:t>
            </a:r>
          </a:p>
          <a:p>
            <a:r>
              <a:rPr lang="en-IN" sz="2100" dirty="0"/>
              <a:t>• The test result showed a </a:t>
            </a:r>
            <a:r>
              <a:rPr lang="en-IN" sz="2100" b="1" dirty="0"/>
              <a:t>statistically significant difference</a:t>
            </a:r>
            <a:r>
              <a:rPr lang="en-IN" sz="2100" dirty="0"/>
              <a:t> in average ratings across categories.</a:t>
            </a:r>
          </a:p>
          <a:p>
            <a:r>
              <a:rPr lang="en-IN" sz="2100" dirty="0"/>
              <a:t>• Since the </a:t>
            </a:r>
            <a:r>
              <a:rPr lang="en-IN" sz="2100" b="1" dirty="0"/>
              <a:t>p-value was less than the significance level (α = 0.05)</a:t>
            </a:r>
            <a:r>
              <a:rPr lang="en-IN" sz="2100" dirty="0"/>
              <a:t>, the </a:t>
            </a:r>
            <a:r>
              <a:rPr lang="en-IN" sz="2100" b="1" dirty="0"/>
              <a:t>null hypothesis (H₀) was rejected</a:t>
            </a:r>
            <a:r>
              <a:rPr lang="en-IN" sz="2100" dirty="0"/>
              <a:t>, indicating a statistically significant difference in average rating across categories.</a:t>
            </a:r>
          </a:p>
          <a:p>
            <a:pPr marL="114300" indent="0">
              <a:buNone/>
            </a:pP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253170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6C16-A1E3-DAF9-9A35-E6106DD1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D623-2BD7-4A6B-EB5C-605C7C9D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76" y="273377"/>
            <a:ext cx="10693924" cy="844223"/>
          </a:xfrm>
        </p:spPr>
        <p:txBody>
          <a:bodyPr/>
          <a:lstStyle/>
          <a:p>
            <a:r>
              <a:rPr lang="en-IN" sz="3600" dirty="0"/>
              <a:t>Evaluation (Hypothesis Testing):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07CEE-C29B-1464-6BF8-689AA6B09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76" y="1219200"/>
            <a:ext cx="10693924" cy="509015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Price vs Rating</a:t>
            </a:r>
            <a:endParaRPr lang="en-IN" sz="2100" b="1" dirty="0"/>
          </a:p>
          <a:p>
            <a:r>
              <a:rPr lang="en-IN" sz="2100" b="1" dirty="0"/>
              <a:t>Null Hypothesis (H₀):</a:t>
            </a:r>
            <a:br>
              <a:rPr lang="en-IN" sz="2100" dirty="0"/>
            </a:br>
            <a:r>
              <a:rPr lang="en-IN" sz="2100" dirty="0"/>
              <a:t>There is </a:t>
            </a:r>
            <a:r>
              <a:rPr lang="en-IN" sz="2100" b="1" dirty="0"/>
              <a:t>no significant linear relationship</a:t>
            </a:r>
            <a:r>
              <a:rPr lang="en-IN" sz="2100" dirty="0"/>
              <a:t> between Price and Rating.</a:t>
            </a:r>
          </a:p>
          <a:p>
            <a:r>
              <a:rPr lang="en-IN" sz="2100" b="1" dirty="0"/>
              <a:t>Alternative Hypothesis (H₁):</a:t>
            </a:r>
            <a:br>
              <a:rPr lang="en-IN" sz="2100" dirty="0"/>
            </a:br>
            <a:r>
              <a:rPr lang="en-IN" sz="2100" dirty="0"/>
              <a:t>There is a </a:t>
            </a:r>
            <a:r>
              <a:rPr lang="en-IN" sz="2100" b="1" dirty="0"/>
              <a:t>significant linear relationship</a:t>
            </a:r>
            <a:r>
              <a:rPr lang="en-IN" sz="2100" dirty="0"/>
              <a:t> between Price and Rating.</a:t>
            </a:r>
          </a:p>
          <a:p>
            <a:r>
              <a:rPr lang="en-IN" sz="2100" dirty="0"/>
              <a:t>A </a:t>
            </a:r>
            <a:r>
              <a:rPr lang="en-IN" sz="2100" b="1" dirty="0"/>
              <a:t>Pearson correlation test</a:t>
            </a:r>
            <a:r>
              <a:rPr lang="en-IN" sz="2100" dirty="0"/>
              <a:t> was performed to examine the relationship between Price and Rating.</a:t>
            </a:r>
          </a:p>
          <a:p>
            <a:r>
              <a:rPr lang="en-IN" sz="2100" dirty="0"/>
              <a:t>The test result showed a </a:t>
            </a:r>
            <a:r>
              <a:rPr lang="en-IN" sz="2100" b="1" dirty="0"/>
              <a:t>statistically significant positive relationship</a:t>
            </a:r>
            <a:r>
              <a:rPr lang="en-IN" sz="2100" dirty="0"/>
              <a:t> between Price and Rating.</a:t>
            </a:r>
          </a:p>
          <a:p>
            <a:r>
              <a:rPr lang="en-IN" sz="2100" dirty="0"/>
              <a:t>Since the </a:t>
            </a:r>
            <a:r>
              <a:rPr lang="en-IN" sz="2100" b="1" dirty="0"/>
              <a:t>p-value was less than the significance level (α = 0.05)</a:t>
            </a:r>
            <a:r>
              <a:rPr lang="en-IN" sz="2100" dirty="0"/>
              <a:t>, the </a:t>
            </a:r>
            <a:r>
              <a:rPr lang="en-IN" sz="2100" b="1" dirty="0"/>
              <a:t>null hypothesis (H₀) was rejected</a:t>
            </a:r>
            <a:r>
              <a:rPr lang="en-IN" sz="2100" dirty="0"/>
              <a:t>.</a:t>
            </a:r>
          </a:p>
          <a:p>
            <a:r>
              <a:rPr lang="en-IN" sz="2100" dirty="0"/>
              <a:t>The correlation value (</a:t>
            </a:r>
            <a:r>
              <a:rPr lang="en-IN" sz="2100" b="1" dirty="0"/>
              <a:t>r = 0.257</a:t>
            </a:r>
            <a:r>
              <a:rPr lang="en-IN" sz="2100" dirty="0"/>
              <a:t>) indicates that the relationship is </a:t>
            </a:r>
            <a:r>
              <a:rPr lang="en-IN" sz="2100" b="1" dirty="0"/>
              <a:t>weakly positive</a:t>
            </a:r>
            <a:r>
              <a:rPr lang="en-IN" sz="2100" dirty="0"/>
              <a:t>.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79990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E37A-C144-9DFE-C324-42BE2777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54E8F-2A1E-8BBC-A382-A6C7AD098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2100" b="1" dirty="0"/>
              <a:t>Dynamic content loading</a:t>
            </a:r>
            <a:r>
              <a:rPr lang="en-IN" sz="2100" dirty="0"/>
              <a:t> made web scraping more challenging. </a:t>
            </a:r>
          </a:p>
          <a:p>
            <a:pPr lvl="0"/>
            <a:r>
              <a:rPr lang="en-IN" sz="2100" b="1" dirty="0"/>
              <a:t>Missing values</a:t>
            </a:r>
            <a:r>
              <a:rPr lang="en-IN" sz="2100" dirty="0"/>
              <a:t> were present in Rating and Reviews. </a:t>
            </a:r>
          </a:p>
          <a:p>
            <a:pPr lvl="0"/>
            <a:r>
              <a:rPr lang="en-IN" sz="2100" b="1" dirty="0"/>
              <a:t>Price and Reviews had high-value outliers</a:t>
            </a:r>
            <a:r>
              <a:rPr lang="en-IN" sz="2100" dirty="0"/>
              <a:t>, making the distributions highly skewed.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137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C8AE-AF21-EAE2-A4B9-C6A68AB0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7" y="405352"/>
            <a:ext cx="10637363" cy="989815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4A672-119C-54A3-4D02-E2296ACF7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5996"/>
            <a:ext cx="10515600" cy="3874415"/>
          </a:xfrm>
        </p:spPr>
        <p:txBody>
          <a:bodyPr/>
          <a:lstStyle/>
          <a:p>
            <a:pPr lvl="0"/>
            <a:r>
              <a:rPr lang="en-IN" sz="2400" dirty="0"/>
              <a:t>Face wash and cleanser is the most common category, with 98 products. </a:t>
            </a:r>
          </a:p>
          <a:p>
            <a:pPr lvl="0"/>
            <a:r>
              <a:rPr lang="en-IN" sz="2400" dirty="0"/>
              <a:t>ZAROON PRODUCTION appears most frequently in the dataset, with 39 products. </a:t>
            </a:r>
          </a:p>
          <a:p>
            <a:pPr lvl="0"/>
            <a:r>
              <a:rPr lang="en-IN" sz="2400" dirty="0"/>
              <a:t>Most products have high ratings, mainly between 4.3 and 4.6. </a:t>
            </a:r>
          </a:p>
          <a:p>
            <a:pPr lvl="0"/>
            <a:r>
              <a:rPr lang="en-IN" sz="2400" dirty="0"/>
              <a:t>Most products are priced below ₹1,000, while a few products have very high prices. </a:t>
            </a:r>
          </a:p>
          <a:p>
            <a:pPr lvl="0"/>
            <a:r>
              <a:rPr lang="en-IN" sz="2400" dirty="0"/>
              <a:t>Price, Rating, and Reviews have no strong relationship.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3465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8EE6-BB73-BD82-CBB0-E011C8E11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3737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5F11D-28ED-69A4-F995-2B7410926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3130"/>
            <a:ext cx="10515600" cy="4583833"/>
          </a:xfrm>
        </p:spPr>
        <p:txBody>
          <a:bodyPr/>
          <a:lstStyle/>
          <a:p>
            <a:pPr lvl="0"/>
            <a:r>
              <a:rPr lang="en-IN" sz="2100" dirty="0"/>
              <a:t>This project </a:t>
            </a:r>
            <a:r>
              <a:rPr lang="en-IN" sz="2100" b="1" dirty="0"/>
              <a:t>showed an end-to-end data analysis workflow using Myntra product data</a:t>
            </a:r>
            <a:r>
              <a:rPr lang="en-IN" sz="2100" dirty="0"/>
              <a:t>. </a:t>
            </a:r>
          </a:p>
          <a:p>
            <a:pPr lvl="0"/>
            <a:r>
              <a:rPr lang="en-IN" sz="2100" dirty="0"/>
              <a:t>Product data was collected through </a:t>
            </a:r>
            <a:r>
              <a:rPr lang="en-IN" sz="2100" b="1" dirty="0"/>
              <a:t>web scraping</a:t>
            </a:r>
            <a:r>
              <a:rPr lang="en-IN" sz="2100" dirty="0"/>
              <a:t>, cleaned, and prepared for analysis. </a:t>
            </a:r>
          </a:p>
          <a:p>
            <a:pPr lvl="0"/>
            <a:r>
              <a:rPr lang="en-IN" sz="2100" b="1" dirty="0"/>
              <a:t>Exploratory data analysis and visualizations</a:t>
            </a:r>
            <a:r>
              <a:rPr lang="en-IN" sz="2100" dirty="0"/>
              <a:t> helped us find common trends in product categories, brands, prices, ratings, and reviews. </a:t>
            </a:r>
          </a:p>
          <a:p>
            <a:pPr lvl="0"/>
            <a:r>
              <a:rPr lang="en-IN" sz="2100" b="1" dirty="0"/>
              <a:t>Hypothesis testing</a:t>
            </a:r>
            <a:r>
              <a:rPr lang="en-IN" sz="2100" dirty="0"/>
              <a:t> was used to statistically analyze differences and relationships in the data. </a:t>
            </a:r>
          </a:p>
          <a:p>
            <a:pPr lvl="0"/>
            <a:r>
              <a:rPr lang="en-IN" sz="2100" dirty="0"/>
              <a:t>Overall, the analysis provided </a:t>
            </a:r>
            <a:r>
              <a:rPr lang="en-IN" sz="2100" b="1" dirty="0"/>
              <a:t>useful insights into product pricing, ratings, reviews, and category distribution</a:t>
            </a:r>
            <a:r>
              <a:rPr lang="en-IN" sz="21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11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3ECD117-6E96-6947-5553-AC133E59D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617" y="1425262"/>
            <a:ext cx="7579150" cy="400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951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3741</TotalTime>
  <Words>1270</Words>
  <Application>Microsoft Office PowerPoint</Application>
  <PresentationFormat>Widescreen</PresentationFormat>
  <Paragraphs>153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Lato Black</vt:lpstr>
      <vt:lpstr>Libre Baskerville</vt:lpstr>
      <vt:lpstr>Times New Roman</vt:lpstr>
      <vt:lpstr>Arial</vt:lpstr>
      <vt:lpstr>Office Theme</vt:lpstr>
      <vt:lpstr>PowerPoint Presentation</vt:lpstr>
      <vt:lpstr>About me</vt:lpstr>
      <vt:lpstr>AGENDA :</vt:lpstr>
      <vt:lpstr> Business Problem Statement : </vt:lpstr>
      <vt:lpstr>Business Objective :</vt:lpstr>
      <vt:lpstr> Dataset Overview: </vt:lpstr>
      <vt:lpstr> Dataset Preview: </vt:lpstr>
      <vt:lpstr>Tools &amp; Technologies:</vt:lpstr>
      <vt:lpstr>Data Cleaning &amp; Preprocessing :</vt:lpstr>
      <vt:lpstr> Exploratory Data Analysis (EDA) </vt:lpstr>
      <vt:lpstr>Univariate Analysis:</vt:lpstr>
      <vt:lpstr>PowerPoint Presentation</vt:lpstr>
      <vt:lpstr>Bivariate Analysis:</vt:lpstr>
      <vt:lpstr>PowerPoint Presentation</vt:lpstr>
      <vt:lpstr>Multivariate Analysis:</vt:lpstr>
      <vt:lpstr>Evaluation (Hypothesis Testing):</vt:lpstr>
      <vt:lpstr>Evaluation (Hypothesis Testing):</vt:lpstr>
      <vt:lpstr>Evaluation (Hypothesis Testing):</vt:lpstr>
      <vt:lpstr>Challenges:</vt:lpstr>
      <vt:lpstr>Key Insights: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puram teja</cp:lastModifiedBy>
  <cp:revision>53</cp:revision>
  <dcterms:created xsi:type="dcterms:W3CDTF">2021-02-16T05:19:01Z</dcterms:created>
  <dcterms:modified xsi:type="dcterms:W3CDTF">2026-09-18T18:25:35Z</dcterms:modified>
</cp:coreProperties>
</file>